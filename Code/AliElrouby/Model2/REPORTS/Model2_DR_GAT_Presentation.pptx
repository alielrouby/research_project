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2700">
            <a:solidFill>
              <a:srgbClr val="D8E3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2 | DR Graph Attention Research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0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0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" name="Image 0" descr="/mnt/data/model2_assets/Model2_PaperX_5CLASS_IMPROVED_XAI_cell02_img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2386388"/>
            <a:ext cx="4480560" cy="20852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07899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 Attention-Based Topological Modeling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66420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Diabetic Retinopathy Severity Prediction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58368" y="245059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36271"/>
                </a:solidFill>
              </a:rPr>
              <a:t>Model 2 Research Article + Presentation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58368" y="304495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310896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BRSET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61488" y="304495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52928" y="310896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EfficientNet + GAT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864608" y="304495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B54C4C"/>
          </a:solidFill>
          <a:ln w="12700">
            <a:solidFill>
              <a:srgbClr val="B54C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56048" y="310896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XAI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5800" y="37947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02A"/>
                </a:solidFill>
              </a:rPr>
              <a:t>Fundus pair + clinical metadata -&gt; patient embeddings -&gt; similarity graph -&gt; GAT prediction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0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motivation and gap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271"/>
                </a:solidFill>
              </a:rPr>
              <a:t>Why the graph-based model was implemented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337560" cy="44348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D9E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3400" y="1234440"/>
            <a:ext cx="3337560" cy="44348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D9E5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1234440"/>
            <a:ext cx="3337560" cy="44348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D9E5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65D"/>
                </a:solidFill>
              </a:rPr>
              <a:t>Problem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265176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</a:rPr>
              <a:t>DR signs are subtle in fundus images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</a:rPr>
              <a:t>Class imbalance hides minority severity stages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</a:rPr>
              <a:t>Raw accuracy alone is misleading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65D"/>
                </a:solidFill>
              </a:rPr>
              <a:t>Gap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0" y="1920240"/>
            <a:ext cx="269748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</a:rPr>
              <a:t>Many studies use only images or only tabular data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</a:rPr>
              <a:t>Graph papers often lack XAI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</a:rPr>
              <a:t>Few pipelines explain relational patient reasoning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2104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65D"/>
                </a:solidFill>
              </a:rPr>
              <a:t>This work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321040" y="1920240"/>
            <a:ext cx="269748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</a:rPr>
              <a:t>Patient-level multimodal embeddings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</a:rPr>
              <a:t>Similarity graph with attention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</a:rPr>
              <a:t>Grad-CAM + SHAP + GAT attention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0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reference architecture to implementation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271"/>
                </a:solidFill>
              </a:rPr>
              <a:t>The paper inspiration is graph/topological DR severity classification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0160">
            <a:solidFill>
              <a:srgbClr val="D9E5F2"/>
            </a:solidFill>
            <a:prstDash val="solid"/>
          </a:ln>
        </p:spPr>
      </p:sp>
      <p:pic>
        <p:nvPicPr>
          <p:cNvPr id="5" name="Image 0" descr="/mnt/data/model2_generated/inspired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98822"/>
            <a:ext cx="5074920" cy="2772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7947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36271"/>
                </a:solidFill>
              </a:rPr>
              <a:t>Topological GNN inspiration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14400" y="4160520"/>
            <a:ext cx="457200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400" dirty="0">
                <a:solidFill>
                  <a:srgbClr val="17202A"/>
                </a:solidFill>
              </a:rPr>
              <a:t>Reference idea: retinal features -&gt; graph representation -&gt; DR stage classifier</a:t>
            </a:r>
            <a:endParaRPr lang="en-US" sz="1400" dirty="0"/>
          </a:p>
          <a:p>
            <a:pPr marL="165100" indent="-165100">
              <a:buSzPct val="100000"/>
              <a:buChar char="•"/>
            </a:pPr>
            <a:r>
              <a:rPr lang="en-US" sz="1400" dirty="0">
                <a:solidFill>
                  <a:srgbClr val="17202A"/>
                </a:solidFill>
              </a:rPr>
              <a:t>Our adaptation: graph nodes are patients, not isolated image features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14300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0160">
            <a:solidFill>
              <a:srgbClr val="D9E5F2"/>
            </a:solidFill>
            <a:prstDash val="solid"/>
          </a:ln>
        </p:spPr>
      </p:sp>
      <p:pic>
        <p:nvPicPr>
          <p:cNvPr id="9" name="Image 1" descr="/mnt/data/model2_generated/implemented_architec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427692"/>
            <a:ext cx="5166360" cy="5395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29400" y="416052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36271"/>
                </a:solidFill>
              </a:rPr>
              <a:t>Implemented multimodal GAT architecture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629400" y="4526280"/>
            <a:ext cx="466344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400" dirty="0">
                <a:solidFill>
                  <a:srgbClr val="17202A"/>
                </a:solidFill>
              </a:rPr>
              <a:t>Left eye + right eye + clinical variables</a:t>
            </a:r>
            <a:endParaRPr lang="en-US" sz="1400" dirty="0"/>
          </a:p>
          <a:p>
            <a:pPr marL="165100" indent="-165100">
              <a:buSzPct val="100000"/>
              <a:buChar char="•"/>
            </a:pPr>
            <a:r>
              <a:rPr lang="en-US" sz="1400" dirty="0">
                <a:solidFill>
                  <a:srgbClr val="17202A"/>
                </a:solidFill>
              </a:rPr>
              <a:t>EfficientNet embedding + tabular MLP</a:t>
            </a:r>
            <a:endParaRPr lang="en-US" sz="1400" dirty="0"/>
          </a:p>
          <a:p>
            <a:pPr marL="165100" indent="-165100">
              <a:buSzPct val="100000"/>
              <a:buChar char="•"/>
            </a:pPr>
            <a:r>
              <a:rPr lang="en-US" sz="1400" dirty="0">
                <a:solidFill>
                  <a:srgbClr val="17202A"/>
                </a:solidFill>
              </a:rPr>
              <a:t>GAT learns influential neighbors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0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and preprocessing trials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271"/>
                </a:solidFill>
              </a:rPr>
              <a:t>Each notebook is described by its implemented approach, not file name</a:t>
            </a:r>
            <a:endParaRPr lang="en-US" sz="1050" dirty="0"/>
          </a:p>
        </p:txBody>
      </p:sp>
      <p:pic>
        <p:nvPicPr>
          <p:cNvPr id="4" name="Image 0" descr="/mnt/data/img00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42" y="1188720"/>
            <a:ext cx="2278676" cy="2011680"/>
          </a:xfrm>
          <a:prstGeom prst="rect">
            <a:avLst/>
          </a:prstGeom>
        </p:spPr>
      </p:pic>
      <p:pic>
        <p:nvPicPr>
          <p:cNvPr id="5" name="Image 1" descr="/mnt/data/img0000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945" y="1188720"/>
            <a:ext cx="2188910" cy="2011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33375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36271"/>
                </a:solidFill>
              </a:rPr>
              <a:t>Paired fundus images per patient</a:t>
            </a:r>
            <a:endParaRPr lang="en-US" sz="850" dirty="0"/>
          </a:p>
        </p:txBody>
      </p:sp>
      <p:sp>
        <p:nvSpPr>
          <p:cNvPr id="7" name="Shape 3"/>
          <p:cNvSpPr/>
          <p:nvPr/>
        </p:nvSpPr>
        <p:spPr>
          <a:xfrm>
            <a:off x="5943600" y="11887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9E5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26364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Patient-level split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26364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6,094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6172200" y="2350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271"/>
                </a:solidFill>
              </a:rPr>
              <a:t>Train patients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800100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B57"/>
                </a:solidFill>
              </a:rPr>
              <a:t>764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7909560" y="2350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271"/>
                </a:solidFill>
              </a:rPr>
              <a:t>Validation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955548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54C4C"/>
                </a:solidFill>
              </a:rPr>
              <a:t>754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9464040" y="2350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271"/>
                </a:solidFill>
              </a:rPr>
              <a:t>Test patients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355080" y="283464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271"/>
                </a:solidFill>
              </a:rPr>
              <a:t>No patient overlap across splits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4360" y="3886200"/>
            <a:ext cx="10744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9E5F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14400" y="4160520"/>
            <a:ext cx="1005840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400" dirty="0">
                <a:solidFill>
                  <a:srgbClr val="17202A"/>
                </a:solidFill>
              </a:rPr>
              <a:t>Median age imputation and numeric standardization</a:t>
            </a:r>
            <a:endParaRPr lang="en-US" sz="1400" dirty="0"/>
          </a:p>
          <a:p>
            <a:pPr marL="165100" indent="-165100">
              <a:buSzPct val="100000"/>
              <a:buChar char="•"/>
            </a:pPr>
            <a:r>
              <a:rPr lang="en-US" sz="1400" dirty="0">
                <a:solidFill>
                  <a:srgbClr val="17202A"/>
                </a:solidFill>
              </a:rPr>
              <a:t>Nine tabular variables retained: age, sex, diabetes, optic disc, vessels, macula, macular edema, drusens, myopic fundus</a:t>
            </a:r>
            <a:endParaRPr lang="en-US" sz="1400" dirty="0"/>
          </a:p>
          <a:p>
            <a:pPr marL="165100" indent="-165100">
              <a:buSzPct val="100000"/>
              <a:buChar char="•"/>
            </a:pPr>
            <a:r>
              <a:rPr lang="en-US" sz="1400" dirty="0">
                <a:solidFill>
                  <a:srgbClr val="17202A"/>
                </a:solidFill>
              </a:rPr>
              <a:t>Trials: 5-class DR_ICDR, grouped 3-class severity, partial oversampling, focal/class-aware learning, threshold calibration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0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Implemented Model 2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271"/>
                </a:solidFill>
              </a:rPr>
              <a:t>Architecture diagram styled for the research article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0185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0160">
            <a:solidFill>
              <a:srgbClr val="D9E5F2"/>
            </a:solidFill>
            <a:prstDash val="solid"/>
          </a:ln>
        </p:spPr>
      </p:sp>
      <p:pic>
        <p:nvPicPr>
          <p:cNvPr id="5" name="Image 0" descr="/mnt/data/model2_generated/implemented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39539"/>
            <a:ext cx="10652760" cy="11125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564184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7202A"/>
                </a:solidFill>
              </a:rPr>
              <a:t>Key design: image encoder handles retinal evidence, tabular MLP handles clinical variables, and GAT handles patient-neighbor topology.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0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Improvement trail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271"/>
                </a:solidFill>
              </a:rPr>
              <a:t>The final model was chosen by severity-aware metrics, not raw accuracy only</a:t>
            </a:r>
            <a:endParaRPr lang="en-US" sz="1050" dirty="0"/>
          </a:p>
        </p:txBody>
      </p:sp>
      <p:pic>
        <p:nvPicPr>
          <p:cNvPr id="4" name="Image 0" descr="/mnt/data/model2_generated/metrics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30096"/>
            <a:ext cx="5577840" cy="29748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46520" y="1143000"/>
            <a:ext cx="507492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160">
            <a:solidFill>
              <a:srgbClr val="D9E5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20840" y="1417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65D"/>
                </a:solidFill>
              </a:rPr>
              <a:t>Main findings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720840" y="1828800"/>
            <a:ext cx="4343400" cy="2651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</a:rPr>
              <a:t>5-class kept fine DR_ICDR detail but remained sparse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</a:rPr>
              <a:t>3-class grouping improved balanced and macro behavior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</a:rPr>
              <a:t>GAT outperformed Stage 1 on macro validation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</a:rPr>
              <a:t>Severe-threshold tuning raised recall without reducing accuracy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0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5-class DR_ICDR experiment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271"/>
                </a:solidFill>
              </a:rPr>
              <a:t>Important because it shows why class grouping was needed</a:t>
            </a:r>
            <a:endParaRPr lang="en-US" sz="1050" dirty="0"/>
          </a:p>
        </p:txBody>
      </p:sp>
      <p:pic>
        <p:nvPicPr>
          <p:cNvPr id="4" name="Image 0" descr="/mnt/data/model2_assets/Model2_PaperX_5CLASS_IMPROVED_cell17_img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42467"/>
            <a:ext cx="3383280" cy="2527145"/>
          </a:xfrm>
          <a:prstGeom prst="rect">
            <a:avLst/>
          </a:prstGeom>
        </p:spPr>
      </p:pic>
      <p:pic>
        <p:nvPicPr>
          <p:cNvPr id="5" name="Image 1" descr="/mnt/data/model2_assets/Model2_PaperX_5CLASS_IMPROVED_cell32_img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42467"/>
            <a:ext cx="3383280" cy="252714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092440" y="1143000"/>
            <a:ext cx="34290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D9E5F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366760" y="1417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5-class key metrics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366760" y="18745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</a:rPr>
              <a:t>Stage 1: Acc 0.8979 | Macro F1 0.1894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</a:rPr>
              <a:t>GAT: Acc 0.9271 | Macro F1 0.3184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</a:rPr>
              <a:t>Balanced Acc improved 0.1968 -&gt; 0.2957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14400" y="466344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7202A"/>
                </a:solidFill>
              </a:rPr>
              <a:t>Interpretation: the graph model helped, but the 5-class setting still predicted mostly No DR because several minority classes had extremely low support.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4133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36271"/>
                </a:solidFill>
              </a:rPr>
              <a:t>Stage 1 confusion matrix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526280" y="4133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36271"/>
                </a:solidFill>
              </a:rPr>
              <a:t>GAT confusion matrix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0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Grouped 3-class severity model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271"/>
                </a:solidFill>
              </a:rPr>
              <a:t>No DR / Mild-Moderate DR / Severe DR</a:t>
            </a:r>
            <a:endParaRPr lang="en-US" sz="1050" dirty="0"/>
          </a:p>
        </p:txBody>
      </p:sp>
      <p:pic>
        <p:nvPicPr>
          <p:cNvPr id="4" name="Image 0" descr="/mnt/data/model2_assets/Model2_PaperX_HIGHER_ACCURACY_cell17_img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78681"/>
            <a:ext cx="3246120" cy="2391878"/>
          </a:xfrm>
          <a:prstGeom prst="rect">
            <a:avLst/>
          </a:prstGeom>
        </p:spPr>
      </p:pic>
      <p:pic>
        <p:nvPicPr>
          <p:cNvPr id="5" name="Image 1" descr="/mnt/data/model2_assets/Model2_PaperX_HIGHER_ACCURACY_cell32_img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478681"/>
            <a:ext cx="3246120" cy="2391878"/>
          </a:xfrm>
          <a:prstGeom prst="rect">
            <a:avLst/>
          </a:prstGeom>
        </p:spPr>
      </p:pic>
      <p:pic>
        <p:nvPicPr>
          <p:cNvPr id="6" name="Image 2" descr="/mnt/data/model2_assets/Model2_PaperX_HIGHER_ACCURACY_cell33_img0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533568"/>
            <a:ext cx="3611880" cy="228210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31520" y="42245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36271"/>
                </a:solidFill>
              </a:rPr>
              <a:t>Stage 1 confusion matrix</a:t>
            </a:r>
            <a:endParaRPr lang="en-US" sz="850" dirty="0"/>
          </a:p>
        </p:txBody>
      </p:sp>
      <p:sp>
        <p:nvSpPr>
          <p:cNvPr id="8" name="Text 3"/>
          <p:cNvSpPr/>
          <p:nvPr/>
        </p:nvSpPr>
        <p:spPr>
          <a:xfrm>
            <a:off x="4206240" y="42245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36271"/>
                </a:solidFill>
              </a:rPr>
              <a:t>GAT confusion matrix</a:t>
            </a:r>
            <a:endParaRPr lang="en-US" sz="850" dirty="0"/>
          </a:p>
        </p:txBody>
      </p:sp>
      <p:sp>
        <p:nvSpPr>
          <p:cNvPr id="9" name="Text 4"/>
          <p:cNvSpPr/>
          <p:nvPr/>
        </p:nvSpPr>
        <p:spPr>
          <a:xfrm>
            <a:off x="7726680" y="422452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36271"/>
                </a:solidFill>
              </a:rPr>
              <a:t>GAT validation macro metrics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2057400" y="4983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0.878</a:t>
            </a:r>
            <a:endParaRPr lang="en-US" sz="2600" dirty="0"/>
          </a:p>
        </p:txBody>
      </p:sp>
      <p:sp>
        <p:nvSpPr>
          <p:cNvPr id="11" name="Text 6"/>
          <p:cNvSpPr/>
          <p:nvPr/>
        </p:nvSpPr>
        <p:spPr>
          <a:xfrm>
            <a:off x="1965960" y="54132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271"/>
                </a:solidFill>
              </a:rPr>
              <a:t>GAT Accuracy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4572000" y="4983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B57"/>
                </a:solidFill>
              </a:rPr>
              <a:t>0.592</a:t>
            </a:r>
            <a:endParaRPr lang="en-US" sz="2600" dirty="0"/>
          </a:p>
        </p:txBody>
      </p:sp>
      <p:sp>
        <p:nvSpPr>
          <p:cNvPr id="13" name="Text 8"/>
          <p:cNvSpPr/>
          <p:nvPr/>
        </p:nvSpPr>
        <p:spPr>
          <a:xfrm>
            <a:off x="4480560" y="54132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271"/>
                </a:solidFill>
              </a:rPr>
              <a:t>Balanced Acc.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7086600" y="4983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8A00"/>
                </a:solidFill>
              </a:rPr>
              <a:t>0.547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6995160" y="54132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271"/>
                </a:solidFill>
              </a:rPr>
              <a:t>Macro F1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0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Severe-recall threshold calibration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271"/>
                </a:solidFill>
              </a:rPr>
              <a:t>A clinically useful operating point</a:t>
            </a:r>
            <a:endParaRPr lang="en-US" sz="1050" dirty="0"/>
          </a:p>
        </p:txBody>
      </p:sp>
      <p:pic>
        <p:nvPicPr>
          <p:cNvPr id="4" name="Image 0" descr="/mnt/data/model2_assets/Model2_PaperX_HIGHER_ACCURACY_cell37_img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52767"/>
            <a:ext cx="3886200" cy="31546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74920" y="1207008"/>
            <a:ext cx="60350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D9E5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4068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Thresholded GAT (thr = 0.35)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40680" y="21305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0.878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49240" y="25603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271"/>
                </a:solidFill>
              </a:rPr>
              <a:t>Accuracy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269480" y="21305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B57"/>
                </a:solidFill>
              </a:rPr>
              <a:t>0.630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178040" y="25603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271"/>
                </a:solidFill>
              </a:rPr>
              <a:t>Balanced Acc.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098280" y="21305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8A00"/>
                </a:solidFill>
              </a:rPr>
              <a:t>0.553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9006840" y="25603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271"/>
                </a:solidFill>
              </a:rPr>
              <a:t>Macro F1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486400" y="32004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02A"/>
                </a:solidFill>
              </a:rPr>
              <a:t>Severe DR recall: 0.5769 -&gt; 0.7692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02A"/>
                </a:solidFill>
              </a:rPr>
              <a:t>Severe F2: 0.5282 -&gt; 0.6536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02A"/>
                </a:solidFill>
              </a:rPr>
              <a:t>Predicted severe count: 38 -&gt; 49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51560" y="495604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02A"/>
                </a:solidFill>
              </a:rPr>
              <a:t>Trade-off: keep accuracy stable while making severe DR misses less likely.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0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XAI design: three explanation layers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271"/>
                </a:solidFill>
              </a:rPr>
              <a:t>Visual, clinical, and graph-relational interpretability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108356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0160">
            <a:solidFill>
              <a:srgbClr val="D9E5F2"/>
            </a:solidFill>
            <a:prstDash val="solid"/>
          </a:ln>
        </p:spPr>
      </p:sp>
      <p:pic>
        <p:nvPicPr>
          <p:cNvPr id="5" name="Image 0" descr="/mnt/data/model2_generated/xai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3162" y="1353312"/>
            <a:ext cx="6935196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452628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E5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480560" y="452628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E5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75320" y="452628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E5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47365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54C4C"/>
                </a:solidFill>
              </a:rPr>
              <a:t>Grad-CAM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B54C4C"/>
                </a:solidFill>
              </a:rPr>
              <a:t>image regions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754880" y="47365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B57"/>
                </a:solidFill>
              </a:rPr>
              <a:t>SHAP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E8B57"/>
                </a:solidFill>
              </a:rPr>
              <a:t>clinical drivers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49640" y="47365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GAT attention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influential neighbors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0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XAI outputs embedded in the research paper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271"/>
                </a:solidFill>
              </a:rPr>
              <a:t>Examples produced from the implemented model</a:t>
            </a:r>
            <a:endParaRPr lang="en-US" sz="1050" dirty="0"/>
          </a:p>
        </p:txBody>
      </p:sp>
      <p:pic>
        <p:nvPicPr>
          <p:cNvPr id="4" name="Image 0" descr="/mnt/data/model2_assets/Model2_PaperX_5CLASS_IMPROVED_XAI_cell02_img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10506"/>
            <a:ext cx="2743200" cy="1276668"/>
          </a:xfrm>
          <a:prstGeom prst="rect">
            <a:avLst/>
          </a:prstGeom>
        </p:spPr>
      </p:pic>
      <p:pic>
        <p:nvPicPr>
          <p:cNvPr id="5" name="Image 1" descr="/mnt/data/model2_assets/Model2_PaperX_5CLASS_IMPROVED_XAI_cell02_img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510506"/>
            <a:ext cx="2743200" cy="1276668"/>
          </a:xfrm>
          <a:prstGeom prst="rect">
            <a:avLst/>
          </a:prstGeom>
        </p:spPr>
      </p:pic>
      <p:pic>
        <p:nvPicPr>
          <p:cNvPr id="6" name="Image 2" descr="/mnt/data/model2_assets/Model2_PaperX_5CLASS_IMPROVED_XAI_cell03_img0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1349" y="1143000"/>
            <a:ext cx="3370903" cy="777240"/>
          </a:xfrm>
          <a:prstGeom prst="rect">
            <a:avLst/>
          </a:prstGeom>
        </p:spPr>
      </p:pic>
      <p:pic>
        <p:nvPicPr>
          <p:cNvPr id="7" name="Image 3" descr="/mnt/data/model2_assets/Model2_PaperX_5CLASS_IMPROVED_XAI_cell03_img0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203" y="2148840"/>
            <a:ext cx="3190875" cy="20574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822960" y="32461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36271"/>
                </a:solidFill>
              </a:rPr>
              <a:t>Left eye Grad-CAM</a:t>
            </a:r>
            <a:endParaRPr lang="en-US" sz="850" dirty="0"/>
          </a:p>
        </p:txBody>
      </p:sp>
      <p:sp>
        <p:nvSpPr>
          <p:cNvPr id="9" name="Text 3"/>
          <p:cNvSpPr/>
          <p:nvPr/>
        </p:nvSpPr>
        <p:spPr>
          <a:xfrm>
            <a:off x="3794760" y="32461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36271"/>
                </a:solidFill>
              </a:rPr>
              <a:t>Right eye Grad-CAM</a:t>
            </a:r>
            <a:endParaRPr lang="en-US" sz="850" dirty="0"/>
          </a:p>
        </p:txBody>
      </p:sp>
      <p:sp>
        <p:nvSpPr>
          <p:cNvPr id="10" name="Text 4"/>
          <p:cNvSpPr/>
          <p:nvPr/>
        </p:nvSpPr>
        <p:spPr>
          <a:xfrm>
            <a:off x="6720840" y="4297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36271"/>
                </a:solidFill>
              </a:rPr>
              <a:t>SHAP explanations for clinical variables</a:t>
            </a:r>
            <a:endParaRPr lang="en-US" sz="850" dirty="0"/>
          </a:p>
        </p:txBody>
      </p:sp>
      <p:sp>
        <p:nvSpPr>
          <p:cNvPr id="11" name="Text 5"/>
          <p:cNvSpPr/>
          <p:nvPr/>
        </p:nvSpPr>
        <p:spPr>
          <a:xfrm>
            <a:off x="914400" y="51206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7202A"/>
                </a:solidFill>
              </a:rPr>
              <a:t>Interpretation: Grad-CAM localizes retinal evidence, SHAP quantifies clinical feature contributions, and attention identifies influential patient neighbors in the graph.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0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 and conclusions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271"/>
                </a:solidFill>
              </a:rPr>
              <a:t>What the results mean for the research article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1206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0160">
            <a:solidFill>
              <a:srgbClr val="D9E5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81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What improved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448056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</a:rPr>
              <a:t>Graph reasoning improved macro behavior compared with Stage 1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</a:rPr>
              <a:t>Grouping severity levels handled extreme DR_ICDR sparsity better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</a:rPr>
              <a:t>Thresholding increased severe DR recall without reducing accuracy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143000"/>
            <a:ext cx="51206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0160">
            <a:solidFill>
              <a:srgbClr val="D9E5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481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29400" y="1965960"/>
            <a:ext cx="448056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</a:rPr>
              <a:t>Compare GAT with GCN, GraphSAGE, and transformer-based graph encoders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</a:rPr>
              <a:t>Tune graph construction and probability calibration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</a:rPr>
              <a:t>Validate on an external dataset or cross-device split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5715000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4E79"/>
                </a:solidFill>
              </a:rPr>
              <a:t>Final takeaway: Model 2 is a publishable graph-based multimodal framework with metrics, architecture diagrams, and XAI evidence ready for a formal paper.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0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training and validation curves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692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271"/>
                </a:solidFill>
              </a:rPr>
              <a:t>Included for completeness from the output graphs</a:t>
            </a:r>
            <a:endParaRPr lang="en-US" sz="1050" dirty="0"/>
          </a:p>
        </p:txBody>
      </p:sp>
      <p:pic>
        <p:nvPicPr>
          <p:cNvPr id="4" name="Image 0" descr="/mnt/data/model2_assets/Model2_PaperX_HIGHER_ACCURACY_cell33_img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89053"/>
            <a:ext cx="3154680" cy="2022495"/>
          </a:xfrm>
          <a:prstGeom prst="rect">
            <a:avLst/>
          </a:prstGeom>
        </p:spPr>
      </p:pic>
      <p:pic>
        <p:nvPicPr>
          <p:cNvPr id="5" name="Image 1" descr="/mnt/data/model2_assets/Model2_PaperX_HIGHER_ACCURACY_cell33_img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389053"/>
            <a:ext cx="3154680" cy="2022495"/>
          </a:xfrm>
          <a:prstGeom prst="rect">
            <a:avLst/>
          </a:prstGeom>
        </p:spPr>
      </p:pic>
      <p:pic>
        <p:nvPicPr>
          <p:cNvPr id="6" name="Image 2" descr="/mnt/data/model2_assets/Model2_PaperX_HIGHER_ACCURACY_cell33_img0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403685"/>
            <a:ext cx="3154680" cy="199323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68680" y="3794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36271"/>
                </a:solidFill>
              </a:rPr>
              <a:t>Stage 1 loss curve</a:t>
            </a:r>
            <a:endParaRPr lang="en-US" sz="850" dirty="0"/>
          </a:p>
        </p:txBody>
      </p:sp>
      <p:sp>
        <p:nvSpPr>
          <p:cNvPr id="8" name="Text 3"/>
          <p:cNvSpPr/>
          <p:nvPr/>
        </p:nvSpPr>
        <p:spPr>
          <a:xfrm>
            <a:off x="4663440" y="3794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36271"/>
                </a:solidFill>
              </a:rPr>
              <a:t>GAT loss curve</a:t>
            </a:r>
            <a:endParaRPr lang="en-US" sz="850" dirty="0"/>
          </a:p>
        </p:txBody>
      </p:sp>
      <p:sp>
        <p:nvSpPr>
          <p:cNvPr id="9" name="Text 4"/>
          <p:cNvSpPr/>
          <p:nvPr/>
        </p:nvSpPr>
        <p:spPr>
          <a:xfrm>
            <a:off x="8275320" y="3794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36271"/>
                </a:solidFill>
              </a:rPr>
              <a:t>GAT validation macro metrics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914400" y="525780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7202A"/>
                </a:solidFill>
              </a:rPr>
              <a:t>The research paper appendix contains the full set of extracted metric graphs and output images.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0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ALI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Attention-Based Diabetic Retinopathy Severity Prediction</dc:title>
  <dc:subject>Model 2 DR GAT Research Presentation</dc:subject>
  <dc:creator>OpenAI</dc:creator>
  <cp:lastModifiedBy>OpenAI</cp:lastModifiedBy>
  <cp:revision>1</cp:revision>
  <dcterms:created xsi:type="dcterms:W3CDTF">2026-05-12T18:39:32Z</dcterms:created>
  <dcterms:modified xsi:type="dcterms:W3CDTF">2026-05-12T18:39:32Z</dcterms:modified>
</cp:coreProperties>
</file>